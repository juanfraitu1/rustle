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300" b="1">
                <a:solidFill>
                  <a:srgbClr val="1F2D5A"/>
                </a:solidFill>
              </a:defRPr>
            </a:pPr>
            <a:r>
              <a:t>What is a multi-copy gene family — built from RNA reads, step by step</a:t>
            </a:r>
          </a:p>
          <a:p>
            <a:pPr>
              <a:defRPr sz="1900">
                <a:solidFill>
                  <a:srgbClr val="127A6E"/>
                </a:solidFill>
              </a:defRPr>
            </a:pPr>
            <a:r>
              <a:t>Two relations on expressed loci; the family is where both 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44444"/>
                </a:solidFill>
              </a:defRPr>
            </a:pPr>
            <a:r>
              <a:t>Each object is produced from the one before by a stated operation; the de-novo loci come from the read-coherence assembly (the one imported step).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5A"/>
                </a:solidFill>
              </a:defRPr>
            </a:pPr>
            <a:r>
              <a:t>The question, and the answer we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 Question: given only RNA long-reads, which loci form a multi-copy gene family?</a:t>
            </a:r>
          </a:p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Answer (assembled over the next slides):</a:t>
            </a:r>
          </a:p>
          <a:p>
            <a:pPr>
              <a:spcAft>
                <a:spcPts val="600"/>
              </a:spcAft>
              <a:defRPr sz="1400">
                <a:solidFill>
                  <a:srgbClr val="1F2D5A"/>
                </a:solidFill>
              </a:defRPr>
            </a:pPr>
            <a:r>
              <a:t>      –  a family = a set of expressed loci that are BOTH read-coupled AND backbone-sharing.</a:t>
            </a:r>
          </a:p>
          <a:p>
            <a:pPr>
              <a:spcAft>
                <a:spcPts val="600"/>
              </a:spcAft>
              <a:defRPr sz="1700">
                <a:solidFill>
                  <a:srgbClr val="127A6E"/>
                </a:solidFill>
              </a:defRPr>
            </a:pPr>
            <a:r>
              <a:t>•  'Read-coupled' = the aligner cannot tell the loci apart (relation ~R).</a:t>
            </a:r>
          </a:p>
          <a:p>
            <a:pPr>
              <a:spcAft>
                <a:spcPts val="600"/>
              </a:spcAft>
              <a:defRPr sz="1700">
                <a:solidFill>
                  <a:srgbClr val="D96B27"/>
                </a:solidFill>
              </a:defRPr>
            </a:pPr>
            <a:r>
              <a:t>•  'Backbone-sharing' = the loci's copies align over a common backbone (relation ~B).</a:t>
            </a:r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t>•  The rest of this deck derives every word of that sentence from the reads.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F2D5A"/>
                </a:solidFill>
              </a:defRPr>
            </a:pPr>
            <a:r>
              <a:t>The whole chain, end to end (we walk each arrow next)</a:t>
            </a:r>
          </a:p>
        </p:txBody>
      </p:sp>
      <p:pic>
        <p:nvPicPr>
          <p:cNvPr id="3" name="Picture 2" descr="family_def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395" y="914400"/>
            <a:ext cx="7210161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444444"/>
                </a:solidFill>
              </a:defRPr>
            </a:pPr>
            <a:r>
              <a:t>Each box is an object; each arrow is the operation that produces the next object from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5A"/>
                </a:solidFill>
              </a:defRPr>
            </a:pPr>
            <a:r>
              <a:t>Step 1 — what we start with: the reads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 Input = HiFi IsoSeq reads: one molecule → one full-length transcript read.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 Each read is a spliced sequence (exons, with the introns removed).</a:t>
            </a:r>
          </a:p>
          <a:p>
            <a:pPr>
              <a:spcAft>
                <a:spcPts val="600"/>
              </a:spcAft>
              <a:defRPr sz="1700">
                <a:solidFill>
                  <a:srgbClr val="127A6E"/>
                </a:solidFill>
              </a:defRPr>
            </a:pPr>
            <a:r>
              <a:t>•  No annotation is used — everything downstream is derived from these reads.</a:t>
            </a:r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t>•  (For a multi-copy gene, reads from different copies look almost identical — that is the whole problem.)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5A"/>
                </a:solidFill>
              </a:defRPr>
            </a:pPr>
            <a:r>
              <a:t>Step 2 — align the reads → placements (where each read can sit)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 Operation: align every read to the genome with minimap2 (-ax splice:hq).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 A read that fits two near-identical copies gets MULTIPLE placements (a primary + secondaries).</a:t>
            </a:r>
          </a:p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Each placement carries a number: de = gap-compressed per-base divergence (how well the read fits there).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      –  de ≈ 0 means the read matches that locus almost perfectly.</a:t>
            </a:r>
          </a:p>
          <a:p>
            <a:pPr>
              <a:spcAft>
                <a:spcPts val="600"/>
              </a:spcAft>
              <a:defRPr sz="1700">
                <a:solidFill>
                  <a:srgbClr val="127A6E"/>
                </a:solidFill>
              </a:defRPr>
            </a:pPr>
            <a:r>
              <a:t>•  So after this step every read is a set of (locus, de) placements — the raw material for 'confusability'.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5A"/>
                </a:solidFill>
              </a:defRPr>
            </a:pPr>
            <a:r>
              <a:t>Step 3 — turn placements into LOCI (the nodes of our graph)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(a) Build the loci [★ the read-coherence assembly — the one step we import]: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      –  cluster reads that share the same splice-junction chain at overlapping coordinates → one DE-NOVO LOCUS.</a:t>
            </a:r>
          </a:p>
          <a:p>
            <a:pPr>
              <a:spcAft>
                <a:spcPts val="600"/>
              </a:spcAft>
              <a:defRPr sz="1400">
                <a:solidFill>
                  <a:srgbClr val="127A6E"/>
                </a:solidFill>
              </a:defRPr>
            </a:pPr>
            <a:r>
              <a:t>      –  ⇒ a de-novo locus = one expressed transcription unit = one NODE (vertex V). No gene name is used.</a:t>
            </a:r>
          </a:p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(b) Attribute each alignment RECORD to its single best-overlap locus: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      –  best-overlap = the locus with the most co-aligned exonic bases (ties broken by lower de).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      –  ⇒ a read on two copies contributes two DISTINCT records → genuine multimapping, not double-counting;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      –  and a read can never be 'confused' with a locus that merely nests inside its 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44444"/>
                </a:solidFill>
              </a:defRPr>
            </a:pPr>
            <a:r>
              <a:t>★ This is the only object imported from upstream; everything after Step 3 is derived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5A"/>
                </a:solidFill>
              </a:defRPr>
            </a:pPr>
            <a:r>
              <a:t>Step 4 — the first relation: ~R (read-confusability) = the 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 For each PAIR of loci (i, j), look at the reads that placed on BOTH.</a:t>
            </a:r>
          </a:p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A read 'ties' i and j when it fits both well AND equally:</a:t>
            </a:r>
          </a:p>
          <a:p>
            <a:pPr>
              <a:spcAft>
                <a:spcPts val="600"/>
              </a:spcAft>
              <a:defRPr sz="1400">
                <a:solidFill>
                  <a:srgbClr val="1F2D5A"/>
                </a:solidFill>
              </a:defRPr>
            </a:pPr>
            <a:r>
              <a:t>      –  de_i, de_j ≤ DE_max = 0.05  (fits both)   AND   |de_i − de_j| ≤ Δ = 0.005  (equally well).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      –  Δ = single-read divergence resolution at HiFi error (≈ 4σ, not tuned);  DE_max = loose copy-vs-other-gene ceiling.</a:t>
            </a:r>
          </a:p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Draw an edge  i — j  when at least k = 3 reads tie  (a quorum — one stray read can't make an edge).</a:t>
            </a:r>
          </a:p>
          <a:p>
            <a:pPr>
              <a:spcAft>
                <a:spcPts val="600"/>
              </a:spcAft>
              <a:defRPr sz="1700">
                <a:solidFill>
                  <a:srgbClr val="127A6E"/>
                </a:solidFill>
              </a:defRPr>
            </a:pPr>
            <a:r>
              <a:t>•  Worked example — RABL2A vs RABL2B (illustrative de values):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      –  a read fits RABL2A at de≈0.001 and RABL2B at de≈0.0035 → both ≤ DE_max, |diff|=0.0025 ≤ Δ → it ties them.</a:t>
            </a:r>
          </a:p>
          <a:p>
            <a:pPr>
              <a:spcAft>
                <a:spcPts val="600"/>
              </a:spcAft>
              <a:defRPr sz="1400">
                <a:solidFill>
                  <a:srgbClr val="127A6E"/>
                </a:solidFill>
              </a:defRPr>
            </a:pPr>
            <a:r>
              <a:t>      –  47 reads tie (measured) ⇒ we draw the edge RABL2A — RABL2B.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5A"/>
                </a:solidFill>
              </a:defRPr>
            </a:pPr>
            <a:r>
              <a:t>Step 5 — edges → graph → CONNECTED COMPONENTS (this is the jump, made explicit)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 We now have a graph: nodes = loci, edges = 'their reads can't be told apart'.</a:t>
            </a:r>
          </a:p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A CONNECTED COMPONENT = a maximal set of nodes where you can walk from any node to any other along edges.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      –  Computed by union-find: start each node alone; every edge merges the two nodes' sets; the final sets are the components.</a:t>
            </a:r>
          </a:p>
          <a:p>
            <a:pPr>
              <a:spcAft>
                <a:spcPts val="600"/>
              </a:spcAft>
              <a:defRPr sz="1700">
                <a:solidFill>
                  <a:srgbClr val="127A6E"/>
                </a:solidFill>
              </a:defRPr>
            </a:pPr>
            <a:r>
              <a:t>•  Why this is the right grouping: if reads confuse A with B, and B with C, then A, B, C form one tangle of</a:t>
            </a:r>
          </a:p>
          <a:p>
            <a:pPr>
              <a:spcAft>
                <a:spcPts val="600"/>
              </a:spcAft>
              <a:defRPr sz="1400">
                <a:solidFill>
                  <a:srgbClr val="127A6E"/>
                </a:solidFill>
              </a:defRPr>
            </a:pPr>
            <a:r>
              <a:t>      –  mutually-confusable loci — exactly the unit on which read-to-copy assignment is one coupled problem.</a:t>
            </a:r>
          </a:p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⇒ each connected component is a CANDIDATE family. We say two loci in one component are READ-COUPLED: write  i R* j.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44444"/>
                </a:solidFill>
              </a:defRPr>
            </a:pPr>
            <a:r>
              <a:t>This is how 'reads' became 'connected components': align → place → count ties → edges → union-find components.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5A"/>
                </a:solidFill>
              </a:defRPr>
            </a:pPr>
            <a:r>
              <a:t>Step 6 — why candidates are not yet families: ~R over-couples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 ~R alone makes a mistake: a shared repeat or a retrocopy makes reads of UNRELATED loci cross-map.</a:t>
            </a:r>
          </a:p>
          <a:p>
            <a:pPr>
              <a:spcAft>
                <a:spcPts val="600"/>
              </a:spcAft>
              <a:defRPr sz="1700">
                <a:solidFill>
                  <a:srgbClr val="D96B27"/>
                </a:solidFill>
              </a:defRPr>
            </a:pPr>
            <a:r>
              <a:t>•  Measured example: OCLN and SEPTIN7 — 3,369 reads tie them, so ~R draws an edge — yet they are not copies.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      –  the reads are confused via a shared element, not because the genes are the same.</a:t>
            </a:r>
          </a:p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So a connected component can fuse a real family with a bridged intruder. We need a second, independent test.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44444"/>
                </a:solidFill>
              </a:defRPr>
            </a:pPr>
            <a:r>
              <a:t>OCLN~SEPTIN7 (3,369 ties; backbone 0.05 on the next slides) is from the genome-wide read-conflict scan — see family_definition_formal.md.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5A"/>
                </a:solidFill>
              </a:defRPr>
            </a:pPr>
            <a:r>
              <a:t>Step 7 — build the COPIES: aggregate isoforms into one exon-union per locus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 A copy is a locus (one node); its reads are different ISOFORMS (alternative transcripts) of that copy.</a:t>
            </a:r>
          </a:p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Operation: union the exonic intervals of ALL reads at a locus → the locus's exon-union sequence.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      –  'the full gene minus introns' (a retained intron shows up where reads span it).</a:t>
            </a:r>
          </a:p>
          <a:p>
            <a:pPr>
              <a:spcAft>
                <a:spcPts val="600"/>
              </a:spcAft>
              <a:defRPr sz="1700">
                <a:solidFill>
                  <a:srgbClr val="127A6E"/>
                </a:solidFill>
              </a:defRPr>
            </a:pPr>
            <a:r>
              <a:t>•  ⇒ one copy model S(v) per locus. Many isoforms collapse to ONE copy — splicing can't masquerade as extra copies.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t>      –  (verified: 100s–1000s of distinct isoforms per locus → a single exon-union.)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5A"/>
                </a:solidFill>
              </a:defRPr>
            </a:pPr>
            <a:r>
              <a:t>Step 8 — the second relation: ~B (backbone-homology) = the validation 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 Operation: align the two copy models S(i), S(j) to each other (minimap2).</a:t>
            </a:r>
          </a:p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Measure coverage in EACH direction: cov_i = fraction of S(i)'s bases that align, cov_j likewise.</a:t>
            </a:r>
          </a:p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Draw a backbone edge  i ~B j  iff  identity ≥ 0.80  AND  min(cov_i, cov_j) ≥ τ = 0.30.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      –  the MIN (reciprocal) is the point: a real copy aligns over most of BOTH; a repeat-bridge over only a short insert of one.</a:t>
            </a:r>
          </a:p>
          <a:p>
            <a:pPr>
              <a:spcAft>
                <a:spcPts val="600"/>
              </a:spcAft>
              <a:defRPr sz="1700">
                <a:solidFill>
                  <a:srgbClr val="127A6E"/>
                </a:solidFill>
              </a:defRPr>
            </a:pPr>
            <a:r>
              <a:t>•  Worked example (measured):</a:t>
            </a:r>
          </a:p>
          <a:p>
            <a:pPr>
              <a:spcAft>
                <a:spcPts val="600"/>
              </a:spcAft>
              <a:defRPr sz="1400">
                <a:solidFill>
                  <a:srgbClr val="127A6E"/>
                </a:solidFill>
              </a:defRPr>
            </a:pPr>
            <a:r>
              <a:t>      –  RABL2A ~ RABL2B copies align over 0.94 of each (min-cov 0.94) → backbone edge ✓.</a:t>
            </a:r>
          </a:p>
          <a:p>
            <a:pPr>
              <a:spcAft>
                <a:spcPts val="600"/>
              </a:spcAft>
              <a:defRPr sz="1400">
                <a:solidFill>
                  <a:srgbClr val="D96B27"/>
                </a:solidFill>
              </a:defRPr>
            </a:pPr>
            <a:r>
              <a:t>      –  OCLN ~ SEPTIN7 align over only 0.05 of one and ~0 of the other → NO backbone edge ✗.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5A"/>
                </a:solidFill>
              </a:defRPr>
            </a:pPr>
            <a:r>
              <a:t>Step 9 — the family: the ~B-connected core inside each read-coupled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Operation: take the vertices of ONE ~R-component; on those vertices only, run union-find over ~B edges;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      –  each resulting ~B-component of size ≥ 2 is a family. A locus with no ~B edge to a family-mate drops out.</a:t>
            </a:r>
          </a:p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DEFINITION:  a multi-copy gene family = a ~B-connected component (size ≥ 2) inside a read-coupled (R*) group.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      –  Equivalently: connected components of  ~B ∩ R*   (R* = 'reads couple them' from Step 5; ~B = 'they share a backbone').</a:t>
            </a:r>
          </a:p>
          <a:p>
            <a:pPr>
              <a:spcAft>
                <a:spcPts val="600"/>
              </a:spcAft>
              <a:defRPr sz="1700">
                <a:solidFill>
                  <a:srgbClr val="127A6E"/>
                </a:solidFill>
              </a:defRPr>
            </a:pPr>
            <a:r>
              <a:t>•  RABL2A–RABL2B: read-coupled ✓ and backbone-connected ✓ → a FAMILY.</a:t>
            </a:r>
          </a:p>
          <a:p>
            <a:pPr>
              <a:spcAft>
                <a:spcPts val="600"/>
              </a:spcAft>
              <a:defRPr sz="1700">
                <a:solidFill>
                  <a:srgbClr val="D96B27"/>
                </a:solidFill>
              </a:defRPr>
            </a:pPr>
            <a:r>
              <a:t>•  OCLN–SEPTIN7: read-coupled ✓ but NO backbone → the bridge is cut → NOT a family.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5A"/>
                </a:solidFill>
              </a:defRPr>
            </a:pPr>
            <a:r>
              <a:t>The definition, fully assembled (every term now derived)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A multi-copy gene family is a set of de-novo loci that is:</a:t>
            </a:r>
          </a:p>
          <a:p>
            <a:pPr>
              <a:spcAft>
                <a:spcPts val="600"/>
              </a:spcAft>
              <a:defRPr sz="1700">
                <a:solidFill>
                  <a:srgbClr val="127A6E"/>
                </a:solidFill>
              </a:defRPr>
            </a:pPr>
            <a:r>
              <a:t>•  (1) read-coupled — its loci are mutually confusable: a connected component of ~R</a:t>
            </a:r>
          </a:p>
          <a:p>
            <a:pPr>
              <a:spcAft>
                <a:spcPts val="600"/>
              </a:spcAft>
              <a:defRPr sz="1400">
                <a:solidFill>
                  <a:srgbClr val="127A6E"/>
                </a:solidFill>
              </a:defRPr>
            </a:pPr>
            <a:r>
              <a:t>      –     (≥ 3 reads tie each link at |de_i−de_j| ≤ Δ), AND</a:t>
            </a:r>
          </a:p>
          <a:p>
            <a:pPr>
              <a:spcAft>
                <a:spcPts val="600"/>
              </a:spcAft>
              <a:defRPr sz="1700">
                <a:solidFill>
                  <a:srgbClr val="D96B27"/>
                </a:solidFill>
              </a:defRPr>
            </a:pPr>
            <a:r>
              <a:t>•  (2) backbone-connected — its copies (all-isoform exon-unions) share a common backbone: ~B</a:t>
            </a:r>
          </a:p>
          <a:p>
            <a:pPr>
              <a:spcAft>
                <a:spcPts val="600"/>
              </a:spcAft>
              <a:defRPr sz="1400">
                <a:solidFill>
                  <a:srgbClr val="D96B27"/>
                </a:solidFill>
              </a:defRPr>
            </a:pPr>
            <a:r>
              <a:t>      –     (identity ≥ 0.80, reciprocal coverage ≥ τ).</a:t>
            </a:r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t>•  ~R alone over-couples (repeat bridges); ~B alone is plain homology (ignores expression/confusability).</a:t>
            </a:r>
          </a:p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The family is where BOTH hold — exactly the unit where copy-assignment is both needed and well-posed.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5A"/>
                </a:solidFill>
              </a:defRPr>
            </a:pPr>
            <a:r>
              <a:t>What this correctly handles — and why (by the two relations)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 Domain-sharers (adjacent genes sharing one exon) → 0 conflicting reads (best-overlap) → not ~R → excluded.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 Repeat / retro bridges between non-copies → no shared backbone → not ~B → excluded (OCLN~SEPTIN7).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 Isoforms of one copy → collapse into one exon-union → never counted as extra copies.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 Single pairs (size-2, the largest class — 73/196 here) → admitted: one ~B edge in a coupled group, no density needed.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 Read-resolvable diverged paralogs → fewer than 3 reads tie → not ~R → out of scope by design.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5A"/>
                </a:solidFill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Hand-labelled panel (17 IsoSeq candidates):  TP = 7, TN = 10, FP = 0, FN = 0.</a:t>
            </a:r>
          </a:p>
          <a:p>
            <a:pPr>
              <a:spcAft>
                <a:spcPts val="600"/>
              </a:spcAft>
              <a:defRPr sz="1700">
                <a:solidFill>
                  <a:srgbClr val="127A6E"/>
                </a:solidFill>
              </a:defRPr>
            </a:pPr>
            <a:r>
              <a:t>•  ~B is the decisive lever: per candidate, repeat/retro bridges score ≤ 0.1 vs real copies ≥ 0.8.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 Genome-wide, OOM-safe (de-novo loci): 212 candidate components → 196 validated families.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      –  cutting 14 backbone-less member loci dissolves/refines 16 components; cross-chrom bridges 20 → 12; size-2 80 → 73.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t>      –  Honest cost: of the cut edges, 9 had no DNA homology vs 12 DNA-paralog/sub-bar → conservative (cuts confident bridges).</a:t>
            </a:r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t>•  Six alternative refinements (clustering, read coverage/intron, junction concordance) tested and rejected;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t>      –  only ~B (backbone) and external repeat-masking survive — ~B is the one that closes the repeat-bridge gap.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5A"/>
                </a:solidFill>
              </a:defRPr>
            </a:pPr>
            <a:r>
              <a:t>Summary — one sentence, fully grounded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A multi-copy gene family = de-novo loci whose reads cannot be told apart (~R)</a:t>
            </a:r>
          </a:p>
          <a:p>
            <a:pPr>
              <a:spcAft>
                <a:spcPts val="600"/>
              </a:spcAft>
              <a:defRPr sz="1700">
                <a:solidFill>
                  <a:srgbClr val="1F2D5A"/>
                </a:solidFill>
              </a:defRPr>
            </a:pPr>
            <a:r>
              <a:t>•  and whose all-isoform copies share a common backbone (~B).</a:t>
            </a:r>
          </a:p>
          <a:p>
            <a:pPr>
              <a:spcAft>
                <a:spcPts val="600"/>
              </a:spcAft>
              <a:defRPr sz="1700">
                <a:solidFill>
                  <a:srgbClr val="127A6E"/>
                </a:solidFill>
              </a:defRPr>
            </a:pPr>
            <a:r>
              <a:t>•  Built only from reads: align → attribute per record → loci → count ties → ~R edges → components</a:t>
            </a:r>
          </a:p>
          <a:p>
            <a:pPr>
              <a:spcAft>
                <a:spcPts val="600"/>
              </a:spcAft>
              <a:defRPr sz="1700">
                <a:solidFill>
                  <a:srgbClr val="127A6E"/>
                </a:solidFill>
              </a:defRPr>
            </a:pPr>
            <a:r>
              <a:t>•  → exon-union copies → align → ~B edges → backbone-connected core = family.</a:t>
            </a:r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t>•  Scope (honest): expressed + confusable copies only; copy NUMBER (PSV haplotypes) is the next step, deferred.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