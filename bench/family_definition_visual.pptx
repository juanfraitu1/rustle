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5" d="100"/>
          <a:sy n="95" d="100"/>
        </p:scale>
        <p:origin x="947" y="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194560"/>
            <a:ext cx="10972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D5A"/>
                </a:solidFill>
              </a:defRPr>
            </a:pPr>
            <a:r>
              <a:rPr dirty="0"/>
              <a:t>What is a multi-copy gene family?</a:t>
            </a:r>
          </a:p>
          <a:p>
            <a:pPr>
              <a:defRPr sz="2000">
                <a:solidFill>
                  <a:srgbClr val="127A6E"/>
                </a:solidFill>
              </a:defRPr>
            </a:pPr>
            <a:r>
              <a:rPr dirty="0"/>
              <a:t>Copies that share a whole-gene backbone  (~B)  —  a structural fact, expressed or not.</a:t>
            </a:r>
          </a:p>
          <a:p>
            <a:pPr>
              <a:defRPr sz="1600">
                <a:solidFill>
                  <a:srgbClr val="D96B27"/>
                </a:solidFill>
              </a:defRPr>
            </a:pPr>
            <a:r>
              <a:rPr dirty="0"/>
              <a:t>Today: defining the family (~B).   Next meeting: telling the copies apart (identifiability, PSVs).</a:t>
            </a:r>
          </a:p>
          <a:p>
            <a:pPr>
              <a:defRPr sz="1400">
                <a:solidFill>
                  <a:srgbClr val="555555"/>
                </a:solidFill>
              </a:defRPr>
            </a:pPr>
            <a:r>
              <a:rPr dirty="0"/>
              <a:t>Illustrated on one real family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From reads to a copy model: sum the exons of all isoforms</a:t>
            </a:r>
          </a:p>
        </p:txBody>
      </p:sp>
      <p:pic>
        <p:nvPicPr>
          <p:cNvPr id="3" name="Picture 2" descr="fig2_exonun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86" y="914400"/>
            <a:ext cx="1097178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copy's many isoforms (grey) sum to one exon-union (orange) = its copy model — so splicing can't masquerade as extra copies. This is what ~B aligns.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The family test: align the copy models  →  shared backbone? (~B)</a:t>
            </a:r>
          </a:p>
        </p:txBody>
      </p:sp>
      <p:pic>
        <p:nvPicPr>
          <p:cNvPr id="3" name="Picture 2" descr="fig5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51" y="914400"/>
            <a:ext cx="1095885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Copy-vs-copy minimap2 (not the read 'de' tag): a diagonal over the whole of each = shared backbone (~B ✓, one family); a bridge with no diagonal = ~B ✗ (cut).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200" b="1">
                <a:solidFill>
                  <a:srgbClr val="1F2D5A"/>
                </a:solidFill>
              </a:defRPr>
            </a:pPr>
            <a:r>
              <a:t>A multi-copy gene family = a set of gene loci whose copies</a:t>
            </a:r>
          </a:p>
          <a:p>
            <a:pPr>
              <a:spcAft>
                <a:spcPts val="900"/>
              </a:spcAft>
              <a:defRPr sz="2100" b="1">
                <a:solidFill>
                  <a:srgbClr val="127A6E"/>
                </a:solidFill>
              </a:defRPr>
            </a:pPr>
            <a:r>
              <a:t>share a WHOLE-GENE backbone (~B: copy models align reciprocally).</a:t>
            </a:r>
          </a:p>
          <a:p>
            <a:pPr>
              <a:spcAft>
                <a:spcPts val="900"/>
              </a:spcAft>
              <a:defRPr sz="800">
                <a:solidFill>
                  <a:srgbClr val="555555"/>
                </a:solidFill>
              </a:defRPr>
            </a:pPr>
            <a:endParaRPr/>
          </a:p>
          <a:p>
            <a:pPr>
              <a:spcAft>
                <a:spcPts val="900"/>
              </a:spcAft>
              <a:defRPr sz="1700">
                <a:solidFill>
                  <a:srgbClr val="1F2D5A"/>
                </a:solidFill>
              </a:defRPr>
            </a:pPr>
            <a:r>
              <a:t>A structural property — it holds whether or not the family is expressed.</a:t>
            </a:r>
          </a:p>
          <a:p>
            <a:pPr>
              <a:spcAft>
                <a:spcPts val="900"/>
              </a:spcAft>
              <a:defRPr sz="1500">
                <a:solidFill>
                  <a:srgbClr val="555555"/>
                </a:solidFill>
              </a:defRPr>
            </a:pPr>
            <a:r>
              <a:t>Expression (observed / silent) and identifiability (can we resolve the copies?) are LABELS, not gates.</a:t>
            </a:r>
          </a:p>
          <a:p>
            <a:pPr>
              <a:spcAft>
                <a:spcPts val="900"/>
              </a:spcAft>
              <a:defRPr sz="1500" b="1">
                <a:solidFill>
                  <a:srgbClr val="D96B27"/>
                </a:solidFill>
              </a:defRPr>
            </a:pPr>
            <a:r>
              <a:t>Identifiability — telling the copies apart — is the NEXT step (PSVs, copy-assignment).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Results: gene families found  (precision / recall)</a:t>
            </a:r>
          </a:p>
        </p:txBody>
      </p:sp>
      <p:pic>
        <p:nvPicPr>
          <p:cNvPr id="3" name="Picture 2" descr="fig9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711" y="914400"/>
            <a:ext cx="858553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On the 17-candidate panel with hand-checked ground truth: precision = recall = 1.00 (0 false families, 0 missed).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F2D5A"/>
                </a:solidFill>
              </a:defRPr>
            </a:pPr>
            <a:r>
              <a:t>Part 2 — the complete family definition (~B)</a:t>
            </a:r>
          </a:p>
          <a:p>
            <a:pPr>
              <a:defRPr sz="1600">
                <a:solidFill>
                  <a:srgbClr val="555555"/>
                </a:solidFill>
              </a:defRPr>
            </a:pPr>
            <a:r>
              <a:t>~B DEFINES the family · all families, expressed or silent · good vs bad alignment · the named families it covers</a:t>
            </a:r>
          </a:p>
          <a:p>
            <a:pPr>
              <a:defRPr sz="1300" b="1">
                <a:solidFill>
                  <a:srgbClr val="D96B27"/>
                </a:solidFill>
              </a:defRPr>
            </a:pPr>
            <a:r>
              <a:t>A family is a structural fact (~B): ~1,000 families, ~half expressed, ~half silent. Identifiability — resolving the copies — is the NEXT meeting (PSVs).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The complete definition — ~B defines the family</a:t>
            </a:r>
          </a:p>
        </p:txBody>
      </p:sp>
      <p:pic>
        <p:nvPicPr>
          <p:cNvPr id="3" name="Picture 2" descr="fig_comple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123" y="914400"/>
            <a:ext cx="9116705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~B (copies share a whole-gene backbone) DEFINES the family — a structural fact. Expression (495 seen / 518 silent) and identifiability (can we resolve the copies?) are LABELS, not gates. Identifiability is next meeting.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Good vs bad ~B alignment — real dot-plots + the criteria</a:t>
            </a:r>
          </a:p>
        </p:txBody>
      </p:sp>
      <p:pic>
        <p:nvPicPr>
          <p:cNvPr id="3" name="Picture 2" descr="fig_alncr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243" y="914400"/>
            <a:ext cx="9270466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~B is a copy-vs-copy alignment. GOOD = one continuous diagonal over ≥30% of BOTH at ≥~85% id (array copies). BAD = a domain-only partial diagonal (CD200R1~CD200R1L), scatter, or — below ~80% id — no alignment (OCLN~SEPTIN7).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From pairwise ~B to the family — a clique, not a chain</a:t>
            </a:r>
          </a:p>
        </p:txBody>
      </p:sp>
      <p:pic>
        <p:nvPicPr>
          <p:cNvPr id="3" name="Picture 2" descr="fig_cl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855" y="914400"/>
            <a:ext cx="9945241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~B is pairwise; the family is the set whose members ALL mutually share a backbone (a clique / dense cluster). 81% of families are full cliques. A bridge member shares with only PART → it never joins the clique → cut, so a single bridge can't merge two families.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Real families the definition covers</a:t>
            </a:r>
          </a:p>
        </p:txBody>
      </p:sp>
      <p:pic>
        <p:nvPicPr>
          <p:cNvPr id="3" name="Picture 2" descr="fig_gall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7922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Validated named families — tandem arrays (RFPL4A, MAGEA), dispersed paralogs (RABL2, APOBEC3, AK6), immune loci — and the bridges it correctly excludes. Each a real paralog set.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D96B27"/>
                </a:solidFill>
              </a:defRPr>
            </a:pPr>
            <a:r>
              <a:t>Next meeting — identifiability: resolving the copies</a:t>
            </a:r>
          </a:p>
          <a:p>
            <a:pPr>
              <a:defRPr sz="1700">
                <a:solidFill>
                  <a:srgbClr val="555555"/>
                </a:solidFill>
              </a:defRPr>
            </a:pPr>
            <a:r>
              <a:t>Today we DEFINED the families (~B). Next: within a family, which copies can reads actually tell apart — and how do we assign the ambiguous reads?</a:t>
            </a:r>
          </a:p>
          <a:p>
            <a:pPr>
              <a:defRPr sz="1400" b="1">
                <a:solidFill>
                  <a:srgbClr val="1F2D5A"/>
                </a:solidFill>
              </a:defRPr>
            </a:pPr>
            <a:r>
              <a:t>The tool: PSVs (copy-distinguishing variants) + copy-assignment. A preview of the read signal follows.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Preview: reads that can't tell the copies apart  (~R)</a:t>
            </a:r>
          </a:p>
        </p:txBody>
      </p:sp>
      <p:pic>
        <p:nvPicPr>
          <p:cNvPr id="3" name="Picture 2" descr="fig1_rea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39494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Within a family, some reads fit several copies equally well (orange) — these are the reads copy-assignment must resolve. ~R measures how confusable the copies are.  [next meeting]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Preview: the read signal — 'de' and a 'tie'</a:t>
            </a:r>
          </a:p>
        </p:txBody>
      </p:sp>
      <p:pic>
        <p:nvPicPr>
          <p:cNvPr id="3" name="Picture 2" descr="fig4_al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023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minimap2's de = differences per base; two copies within Δ of each other on a read = a tie = read-confusable. This identifiability signal is where PSVs come in.  [next meeting]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F2D5A"/>
                </a:solidFill>
              </a:defRPr>
            </a:pPr>
            <a:r>
              <a:t>Appendix — how it actually works</a:t>
            </a:r>
          </a:p>
          <a:p>
            <a:pPr>
              <a:defRPr sz="1700">
                <a:solidFill>
                  <a:srgbClr val="555555"/>
                </a:solidFill>
              </a:defRPr>
            </a:pPr>
            <a:r>
              <a:t>what we align &amp; how we know what to align to · error vs. real difference · digesting a read into exons</a:t>
            </a:r>
          </a:p>
          <a:p>
            <a:pPr>
              <a:defRPr sz="1300" b="1">
                <a:solidFill>
                  <a:srgbClr val="D96B27"/>
                </a:solidFill>
              </a:defRPr>
            </a:pPr>
            <a:r>
              <a:t>minimap2 does the ALIGNMENT (reads → placements, de, CIGAR — we do not implement an aligner). Our method is everything downstream — choosing WHAT to align, the two relations, the graph, the definition.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do we align — and how do we know what to align to?</a:t>
            </a:r>
          </a:p>
        </p:txBody>
      </p:sp>
      <p:pic>
        <p:nvPicPr>
          <p:cNvPr id="3" name="Picture 2" descr="fig_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072" y="914400"/>
            <a:ext cx="10944807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The reads pre-select: a multimapping read says which loci might be copies (~R); we align only those, copy-vs-copy (minimap2 asm20) → ~B.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Error or real? — by recurrence across reads</a:t>
            </a:r>
          </a:p>
        </p:txBody>
      </p:sp>
      <p:pic>
        <p:nvPicPr>
          <p:cNvPr id="3" name="Picture 2" descr="fig7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37325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difference in one read = error (ignored); the same difference in many reads = a real variant. Edges need a quorum (k≥3).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Digesting a read into exons (CIGAR → exons → union)</a:t>
            </a:r>
          </a:p>
        </p:txBody>
      </p:sp>
      <p:pic>
        <p:nvPicPr>
          <p:cNvPr id="3" name="Picture 2" descr="fig8_cig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3207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Each read's CIGAR marks exons (M) and introns (N); junctions are trusted by recurrence + canonical GT–AG; exons are then unioned.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3649</TotalTime>
  <Words>910</Words>
  <Application>Microsoft Office PowerPoint</Application>
  <PresentationFormat>Custom</PresentationFormat>
  <Paragraphs>44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Iturralde Martinez, Juan Francisco</cp:lastModifiedBy>
  <cp:revision>2</cp:revision>
  <dcterms:created xsi:type="dcterms:W3CDTF">2013-01-27T09:14:16Z</dcterms:created>
  <dcterms:modified xsi:type="dcterms:W3CDTF">2026-06-26T19:12:44Z</dcterms:modified>
  <cp:category/>
</cp:coreProperties>
</file>