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4285A"/>
                </a:solidFill>
              </a:rPr>
              <a:t>The method, in punchlines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6E737D"/>
                </a:solidFill>
              </a:rPr>
              <a:t>Multi-copy gene families at the RNA level — one idea per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8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2D2D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When gene copies are ~identical, what happens?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A read fits several copies equally, so the aligner gives up — MAPQ 0 — and the copies “collapse” into one. We define and RESOLVE these multi-copy gene families straight from the RNA reads. We are not an assembler.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Short reads recover only 0.85% of the paralog-specific variants in these regions (Soto 2025) — long reads + a per-read model are the way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85A"/>
                </a:solidFill>
              </a:rPr>
              <a:t>O1  ·  WHAT IS A MULTI-COPY GENE FAMILY?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What is a multi-copy gene family — for us?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A set of mutually-homologous loci: a cohesive, dense cluster (a γ-quasi-clique) in the transcribed-homology graph, over ≥ 2 distinct loci.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The boundary is a relational homology tie — no “≥ X% identical” cutoff, annotation-free. Copy number = the fewest copy-paths that explain the reads (a minimum path cover; a lower bound).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85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85FAF"/>
                </a:solidFill>
              </a:rPr>
              <a:t>O2  ·  COPY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Why not Eichler's rule — assign a copy only if the best alignment beats the runner-up by ≥ 10 — or just Liftoff?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Near-identical copies never differ by that margin, so Eichler's whole-read rule resolves 0% of the COLLAPSED paralogs. Liftoff only re-places copies the assembly already has — and collapses the near-identical ones. We score the PSV columns PER READ, and assign-or-abstain with a certificate. Never 1/k.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AS ≥ 10: 0% at every K in the collapsed regime (it works fine on divergent copies — blind only sub-threshold). Scoring only the PSVs: 60% (K=1) → 100% (K≥2), 0.99–1.00 accuracy. Liftoff missed copies we recover.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7837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83796"/>
                </a:solidFill>
              </a:rPr>
              <a:t>THE ENGINE  ·  VARIATION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How does the variation graph “thread” the PSVs?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All copies collapse onto ONE graph: the shared backbone is the spine, the copy differences are BUBBLES (the PSVs). A copy is a consistent PATH of alleles; a read walks the graph and VOTES at each bubble it spans → assign or abstain.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A SUN — a copy's private allele — pins that copy from a single read. Multimapping reads become SHARED evidence, threaded, not divided 1/k.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E7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7837"/>
                </a:solidFill>
              </a:rPr>
              <a:t>RIGOR  ·  IS THE PSV REAL?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How do we know a PSV is a real copy-difference, not a sequencing or alignment error?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4285A"/>
                </a:solidFill>
              </a:rPr>
              <a:t>It must survive five independent gates — an error clears none of them: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7837"/>
                </a:solidFill>
              </a:rPr>
              <a:t>RECURRENCE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3320" y="28803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32328"/>
                </a:solidFill>
              </a:rPr>
              <a:t>an error hits one read (prob ε); a real PSV recurs at the same column → εᵏ →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1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7837"/>
                </a:solidFill>
              </a:rPr>
              <a:t>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3593591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32328"/>
                </a:solidFill>
              </a:rPr>
              <a:t>a per-read significance test; if it isn't significant we ABSTAIN — we don't guess (no 1/k)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06824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7837"/>
                </a:solidFill>
              </a:rPr>
              <a:t>LINKAGE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4306824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32328"/>
                </a:solidFill>
              </a:rPr>
              <a:t>real copy-variants co-segregate into ONE consistent path; independent errors don't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020056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7837"/>
                </a:solidFill>
              </a:rPr>
              <a:t>EDITING ≠ PSV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5020056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32328"/>
                </a:solidFill>
              </a:rPr>
              <a:t>A→I editing (A→G / T→C) is flagged and down-weighted, not counted as a copy difference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733288"/>
            <a:ext cx="2788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7837"/>
                </a:solidFill>
              </a:rPr>
              <a:t>OPTIMAL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733288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32328"/>
                </a:solidFill>
              </a:rPr>
              <a:t>a misplaced gap invents a PHANTOM PSV — our exact banded DP aligner is provably optimal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878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780F"/>
                </a:solidFill>
              </a:rPr>
              <a:t>O4  ·  REFERENCE-ABSENT COPIES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How do we find copies that aren't even in the reference?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When the reads need MORE copies than the reference hosts — χ(H) at a locus exceeds its annotated copies — the ambiguity can't be explained by what's there. That surplus IS a reference-absent copy.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The same assignment engine, turned OUTWARD: detect-and-flag. (Whether the surplus is a new copy vs an allele needs DNA.)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8282"/>
                </a:solidFill>
              </a:rPr>
              <a:t>O3  ·  ALLELE-SPECIFIC JUNCTIONS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Does the same idea reach beyond copy number?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Yes — the SAME per-molecule threading links an ALLELE to the splice JUNCTION it uses, on ONE read. Which variant a molecule carries, and which isoform it splices to, are read off the same molecule — so there is nothing to phase, and nothing to divide 1/k. That is allele-specific splicing, straight from single reads.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A different question — cis-regulation, not copy number — from the SAME engine (a PSV bubble separates copies; an allele bubble separates haplotypes; a junction is an edge choice). Shipped: 54 strand-bias-clean links; the genome-false over-calls were checked against DNA and retracted — reported honestly.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285A"/>
                </a:solidFill>
              </a:rPr>
              <a:t>WHY IT HOLDS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1">
                <a:solidFill>
                  <a:srgbClr val="6E737D"/>
                </a:solidFill>
              </a:rPr>
              <a:t>Is any of this real, or wishful thinking?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4285A"/>
                </a:solidFill>
              </a:rPr>
              <a:t>Planted sim (non-circular): identical copies → 0 invented PSVs (120/120 certified tied); real PSVs recovered. Independent DNA (Soto, Cell 2025): we AGREE on his human-specific families. Same code on HUMAN testis: it tracks the real expansions — MAGEA 2→11, TSPY 5→33 — not the gorilla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949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0" i="1">
                <a:solidFill>
                  <a:srgbClr val="6E737D"/>
                </a:solidFill>
              </a:rPr>
              <a:t>One line: a family = read-threaded paths through one PSV-bubble graph; assignment is assign-or-abstain over provable structure (χ(H) = min copies; facility location). No thresholds, no 1/k.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85A"/>
                </a:solidFill>
              </a:rPr>
              <a:t>BACKUP  ·  one framework, not four 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E737D"/>
                </a:solidFill>
              </a:rPr>
              <a:t>if asked how the graphs relate: they are ONE object — the variation graph — at different scopes / views</a:t>
            </a:r>
          </a:p>
        </p:txBody>
      </p:sp>
      <p:pic>
        <p:nvPicPr>
          <p:cNvPr id="5" name="Picture 4" descr="one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446" y="1645920"/>
            <a:ext cx="9020802" cy="49377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85A"/>
                </a:solidFill>
              </a:rPr>
              <a:t>BACKUP  ·  the two formal objects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E737D"/>
                </a:solidFill>
              </a:rPr>
              <a:t>if asked for the formalism: what exactly IS a family, and what is the copy number?</a:t>
            </a:r>
          </a:p>
        </p:txBody>
      </p:sp>
      <p:pic>
        <p:nvPicPr>
          <p:cNvPr id="5" name="Picture 4" descr="formal_ob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872" y="1783080"/>
            <a:ext cx="10281949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4285A"/>
                </a:solidFill>
              </a:rPr>
              <a:t>family = γ-quasi-clique (dense homology cluster — not a chain, not a strict clique)    ·    copy number = χ(H) = fewest copies that explain the reads = min clique cover (a lower bound)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85A"/>
                </a:solidFill>
              </a:rPr>
              <a:t>BACKUP  ·  glossary  (1/2) — sequence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85FAF"/>
                </a:solidFill>
              </a:rPr>
              <a:t>THE SEQUENCE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copy</a:t>
            </a:r>
            <a:r>
              <a:rPr sz="1050">
                <a:solidFill>
                  <a:srgbClr val="585C66"/>
                </a:solidFill>
              </a:rPr>
              <a:t>  —  a genomic instance of a gene — a path through the graph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isoform</a:t>
            </a:r>
            <a:r>
              <a:rPr sz="1050">
                <a:solidFill>
                  <a:srgbClr val="585C66"/>
                </a:solidFill>
              </a:rPr>
              <a:t>  —  a splice variant of ONE gene — a path through the junctions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exon / intron</a:t>
            </a:r>
            <a:r>
              <a:rPr sz="1050">
                <a:solidFill>
                  <a:srgbClr val="585C66"/>
                </a:solidFill>
              </a:rPr>
              <a:t>  —  kept in the mRNA  /  spliced out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splice junction</a:t>
            </a:r>
            <a:r>
              <a:rPr sz="1050">
                <a:solidFill>
                  <a:srgbClr val="585C66"/>
                </a:solidFill>
              </a:rPr>
              <a:t>  —  where two exons join (a branch point)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allele</a:t>
            </a:r>
            <a:r>
              <a:rPr sz="1050">
                <a:solidFill>
                  <a:srgbClr val="585C66"/>
                </a:solidFill>
              </a:rPr>
              <a:t>  —  the base at a variant position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PSV</a:t>
            </a:r>
            <a:r>
              <a:rPr sz="1050">
                <a:solidFill>
                  <a:srgbClr val="585C66"/>
                </a:solidFill>
              </a:rPr>
              <a:t>  —  a position where copies differ (a bubble)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SUN</a:t>
            </a:r>
            <a:r>
              <a:rPr sz="1050">
                <a:solidFill>
                  <a:srgbClr val="585C66"/>
                </a:solidFill>
              </a:rPr>
              <a:t>  —  a PSV private to ONE copy  (SUN ⊆ PSV) → one read pins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2801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E7837"/>
                </a:solidFill>
              </a:rPr>
              <a:t>OUR METHOD OBJECTS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737360"/>
            <a:ext cx="5577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variation graph</a:t>
            </a:r>
            <a:r>
              <a:rPr sz="1050">
                <a:solidFill>
                  <a:srgbClr val="585C66"/>
                </a:solidFill>
              </a:rPr>
              <a:t>  —  spine + PSV bubbles + junction branches; copies/isoforms = paths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bubble</a:t>
            </a:r>
            <a:r>
              <a:rPr sz="1050">
                <a:solidFill>
                  <a:srgbClr val="585C66"/>
                </a:solidFill>
              </a:rPr>
              <a:t>  —  where paths diverge — a PSV or a junction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family  (O1)</a:t>
            </a:r>
            <a:r>
              <a:rPr sz="1050">
                <a:solidFill>
                  <a:srgbClr val="585C66"/>
                </a:solidFill>
              </a:rPr>
              <a:t>  —  a cohesive homology cluster of loci (γ-quasi-clique)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copy number  χ_H</a:t>
            </a:r>
            <a:r>
              <a:rPr sz="1050">
                <a:solidFill>
                  <a:srgbClr val="585C66"/>
                </a:solidFill>
              </a:rPr>
              <a:t>  —  fewest copy-paths covering the reads — a lower bound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assignment  (O2)</a:t>
            </a:r>
            <a:r>
              <a:rPr sz="1050">
                <a:solidFill>
                  <a:srgbClr val="585C66"/>
                </a:solidFill>
              </a:rPr>
              <a:t>  —  which copy-path a read is on (facility location; no 1/k)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reference-absent  (O4)</a:t>
            </a:r>
            <a:r>
              <a:rPr sz="1050">
                <a:solidFill>
                  <a:srgbClr val="585C66"/>
                </a:solidFill>
              </a:rPr>
              <a:t>  —  a copy the individual has but the assembly lacks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allele-specific jn  (O3)</a:t>
            </a:r>
            <a:r>
              <a:rPr sz="1050">
                <a:solidFill>
                  <a:srgbClr val="585C66"/>
                </a:solidFill>
              </a:rPr>
              <a:t>  —  an allele linked to its junction on one read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K=0 floor</a:t>
            </a:r>
            <a:r>
              <a:rPr sz="1050">
                <a:solidFill>
                  <a:srgbClr val="585C66"/>
                </a:solidFill>
              </a:rPr>
              <a:t>  —  identical copies carry no PSV → certified TIED, not guessed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42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285A"/>
                </a:solidFill>
              </a:rPr>
              <a:t>BACKUP  ·  glossary  (2/2) —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8780F"/>
                </a:solidFill>
              </a:rPr>
              <a:t>THE EVOLUTION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338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paralog</a:t>
            </a:r>
            <a:r>
              <a:rPr sz="1050">
                <a:solidFill>
                  <a:srgbClr val="585C66"/>
                </a:solidFill>
              </a:rPr>
              <a:t>  —  two genes related by DUPLICATION (within a lineage)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ortholog</a:t>
            </a:r>
            <a:r>
              <a:rPr sz="1050">
                <a:solidFill>
                  <a:srgbClr val="585C66"/>
                </a:solidFill>
              </a:rPr>
              <a:t>  —  two genes related by SPECIATION (the same gene in two species)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multi-copy gene family</a:t>
            </a:r>
            <a:r>
              <a:rPr sz="1050">
                <a:solidFill>
                  <a:srgbClr val="585C66"/>
                </a:solidFill>
              </a:rPr>
              <a:t>  —  ≥ 2 paralogs present in one genome — the state we measure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segmental duplication (SD)</a:t>
            </a:r>
            <a:r>
              <a:rPr sz="1050">
                <a:solidFill>
                  <a:srgbClr val="585C66"/>
                </a:solidFill>
              </a:rPr>
              <a:t>  —  a duplicated DNA block (≥ 1 kb, high identity); SD98 = ≥ 98%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expansion</a:t>
            </a:r>
            <a:r>
              <a:rPr sz="1050">
                <a:solidFill>
                  <a:srgbClr val="585C66"/>
                </a:solidFill>
              </a:rPr>
              <a:t>  —  copies GAINED on a lineage vs its ancestor (needs an outgroup)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contraction</a:t>
            </a:r>
            <a:r>
              <a:rPr sz="1050">
                <a:solidFill>
                  <a:srgbClr val="585C66"/>
                </a:solidFill>
              </a:rPr>
              <a:t>  —  copies LOST on a lineage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pseudogene</a:t>
            </a:r>
            <a:r>
              <a:rPr sz="1050">
                <a:solidFill>
                  <a:srgbClr val="585C66"/>
                </a:solidFill>
              </a:rPr>
              <a:t>  —  a copy that lost function (processed = intronless retrocopy)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retrocopy / retrogene</a:t>
            </a:r>
            <a:r>
              <a:rPr sz="1050">
                <a:solidFill>
                  <a:srgbClr val="585C66"/>
                </a:solidFill>
              </a:rPr>
              <a:t>  —  an mRNA-derived, intronless copy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14285A"/>
                </a:solidFill>
              </a:rPr>
              <a:t>exonization</a:t>
            </a:r>
            <a:r>
              <a:rPr sz="1050">
                <a:solidFill>
                  <a:srgbClr val="585C66"/>
                </a:solidFill>
              </a:rPr>
              <a:t>  —  non-coding sequence (intron / Alu) becoming a new EXON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212080"/>
            <a:ext cx="11338560" cy="1234440"/>
          </a:xfrm>
          <a:prstGeom prst="rect">
            <a:avLst/>
          </a:prstGeom>
          <a:solidFill>
            <a:srgbClr val="F4F7FB"/>
          </a:solidFill>
          <a:ln w="12700">
            <a:solidFill>
              <a:srgbClr val="1428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285A"/>
                </a:solidFill>
              </a:rPr>
              <a:t>the relationships that trip people: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32328"/>
                </a:solidFill>
              </a:rPr>
              <a:t>SUN ⊆ PSV     ·     paralog = the relationship,  multi-copy family = the state we measure,  SD = the DNA mechanism,  expansion = the cross-species change     ·     copy (bubbles) vs isoform (junctions) = two axes of ONE variation graph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