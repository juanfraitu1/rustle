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1 · What is a multi-copy gene family (our definition)?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C3C3C"/>
                </a:solidFill>
              </a:rPr>
              <a:t>A set of loci the READS cannot tell apart — a family = a connected component of the read-conflict graph (an edge = some read fits both loci comparably). Relational, annotation-free; no absolute-similarity bar.</a:t>
            </a:r>
          </a:p>
        </p:txBody>
      </p:sp>
      <p:pic>
        <p:nvPicPr>
          <p:cNvPr id="4" name="Picture 3" descr="s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33" y="1874519"/>
            <a:ext cx="992922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2 · From reads (BAM alignments) to families — the pipeline</a:t>
            </a:r>
          </a:p>
        </p:txBody>
      </p:sp>
      <p:pic>
        <p:nvPicPr>
          <p:cNvPr id="3" name="Picture 2" descr="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04" y="1234440"/>
            <a:ext cx="1073988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172200"/>
            <a:ext cx="11201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A5A"/>
                </a:solidFill>
              </a:rPr>
              <a:t>isoform = a distinct splice variant of a gene — a particular intron chain (which exons are joined). One gene can express several isoforms; step ① collapses isoforms that share a junction into ONE gene LOCUS, so a family is a set of loci (genes/copies), not of isoforms.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3 · Why a single common core can't discover all members</a:t>
            </a:r>
          </a:p>
        </p:txBody>
      </p:sp>
      <p:pic>
        <p:nvPicPr>
          <p:cNvPr id="3" name="Picture 2" descr="s_singl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09" y="1280160"/>
            <a:ext cx="1007187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4 · Methods to detect multi-copy gene families (gathered)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3444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840480"/>
                <a:gridCol w="3566160"/>
              </a:tblGrid>
              <a:tr h="4343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 marL="54864" marR="54864" marT="18288" marB="18288">
                    <a:solidFill>
                      <a:srgbClr val="1428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Signal / level</a:t>
                      </a:r>
                    </a:p>
                  </a:txBody>
                  <a:tcPr anchor="ctr" marL="54864" marR="54864" marT="18288" marB="18288">
                    <a:solidFill>
                      <a:srgbClr val="1428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anchor="ctr" marL="54864" marR="54864" marT="18288" marB="18288">
                    <a:solidFill>
                      <a:srgbClr val="1428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Limit on RECENT near-identical paralogs</a:t>
                      </a:r>
                    </a:p>
                  </a:txBody>
                  <a:tcPr anchor="ctr" marL="54864" marR="54864" marT="18288" marB="18288">
                    <a:solidFill>
                      <a:srgbClr val="14285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OrthoFinder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protein homology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DIAMOND all-vs-all + MCL + gene trees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near-identical copies collapse / over-merge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Pfam / InterPro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domain HMM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group by shared domain architecture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groups domain-sharers (FP); domain ≠ copy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Ensembl Compara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phylogenetic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gene-tree ↔ species-tree reconciliation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fails on recent near-identical paralogs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Mash / minimizer-Jaccard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alignment-free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MinHash / minimizer distance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cannot separate domain-sharers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SEDEF / BISER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DNA self-align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Jaccard + chaining → segdup pairs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strong on recent SDs; DNA only, no expression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Soto 2025 (HSD)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DNA + copy-number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SD98 + shared-exon + famCN grouping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human gold standard; DNA, no RNA/isoform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Eichler 2024 (TBC1D3)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long-read RNA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map FLNC; assign read iff AS ≥ 10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ONE family; not de-novo / genome-wide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longcallR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long-read RNA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CNN SNP + MEC phasing + ASE/ASJ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uniquely-mappable only; never assigns to COPIES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RSEM / Salmon / kallisto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RNA quant (EM)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EM apportions multireads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needs a PRE-DEFINED transcript set; no discovery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/>
                        <a:t>IsoCon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long-read RNA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NN cluster/correct + real-vs-error test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/>
                        <a:t>closest prior art; WITHIN a known family, targeted</a:t>
                      </a:r>
                    </a:p>
                  </a:txBody>
                  <a:tcPr anchor="ctr" marL="54864" marR="54864" marT="18288" marB="18288">
                    <a:solidFill>
                      <a:srgbClr val="F4F7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6E14"/>
                          </a:solidFill>
                        </a:rPr>
                        <a:t>★ OURS (read-conflict)</a:t>
                      </a:r>
                    </a:p>
                  </a:txBody>
                  <a:tcPr anchor="ctr" marL="54864" marR="54864" marT="18288" marB="18288">
                    <a:solidFill>
                      <a:srgbClr val="E1F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6E14"/>
                          </a:solidFill>
                        </a:rPr>
                        <a:t>long-read RNA, de-novo</a:t>
                      </a:r>
                    </a:p>
                  </a:txBody>
                  <a:tcPr anchor="ctr" marL="54864" marR="54864" marT="18288" marB="18288">
                    <a:solidFill>
                      <a:srgbClr val="E1F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6E14"/>
                          </a:solidFill>
                        </a:rPr>
                        <a:t>loci a read CAN'T tell apart (conflict graph) + copy assign</a:t>
                      </a:r>
                    </a:p>
                  </a:txBody>
                  <a:tcPr anchor="ctr" marL="54864" marR="54864" marT="18288" marB="18288">
                    <a:solidFill>
                      <a:srgbClr val="E1F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6E14"/>
                          </a:solidFill>
                        </a:rPr>
                        <a:t>fills the empty niche: de-novo · genome-wide · RNA · copy-level</a:t>
                      </a:r>
                    </a:p>
                  </a:txBody>
                  <a:tcPr anchor="ctr" marL="54864" marR="54864" marT="18288" marB="18288">
                    <a:solidFill>
                      <a:srgbClr val="E1F0E1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</a:rPr>
              <a:t>The RNA / long-read / de-novo / copy-level niche was empty — IsoCon is the closest, but only WITHIN a known family.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85A"/>
                </a:solidFill>
              </a:rPr>
              <a:t>5 · A runaway read can't wrongly extend the intron chain</a:t>
            </a:r>
          </a:p>
        </p:txBody>
      </p:sp>
      <p:pic>
        <p:nvPicPr>
          <p:cNvPr id="3" name="Picture 2" descr="s_run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234440"/>
            <a:ext cx="10789920" cy="49258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