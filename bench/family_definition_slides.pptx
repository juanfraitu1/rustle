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F2D5A"/>
                </a:solidFill>
              </a:defRPr>
            </a:pPr>
            <a:r>
              <a:t>Defining a multi-copy gene family at the RNA level</a:t>
            </a:r>
          </a:p>
          <a:p>
            <a:pPr>
              <a:defRPr sz="2000">
                <a:solidFill>
                  <a:srgbClr val="127A6E"/>
                </a:solidFill>
              </a:defRPr>
            </a:pPr>
            <a:r>
              <a:t>A read-conflict graph:  recent paralogy  ∩  read-confusability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44444"/>
                </a:solidFill>
              </a:defRPr>
            </a:pPr>
            <a:r>
              <a:t>GGO HiFi IsoSeq · de-tie criterion · TP=7 TN=10 FP=0 FN=0 · genome-wide validated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D5A"/>
                </a:solidFill>
              </a:defRPr>
            </a:pPr>
            <a:r>
              <a:t>The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•  What is a 'gene family' — for the copy-assignment problem?</a:t>
            </a:r>
          </a:p>
          <a:p>
            <a:pPr>
              <a:spcAft>
                <a:spcPts val="700"/>
              </a:spcAft>
              <a:defRPr sz="1500">
                <a:solidFill>
                  <a:srgbClr val="222222"/>
                </a:solidFill>
              </a:defRPr>
            </a:pPr>
            <a:r>
              <a:t>      –  The biological definition (sequence similarity / phylogeny) needs the genome or protein —</a:t>
            </a:r>
          </a:p>
          <a:p>
            <a:pPr>
              <a:spcAft>
                <a:spcPts val="700"/>
              </a:spcAft>
              <a:defRPr sz="1500">
                <a:solidFill>
                  <a:srgbClr val="222222"/>
                </a:solidFill>
              </a:defRPr>
            </a:pPr>
            <a:r>
              <a:t>      –  not derivable from RNA, and circular if used to DETECT families from reads.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•  The copy-assignment problem operates on a different unit:</a:t>
            </a:r>
          </a:p>
          <a:p>
            <a:pPr>
              <a:spcAft>
                <a:spcPts val="700"/>
              </a:spcAft>
              <a:defRPr sz="1500">
                <a:solidFill>
                  <a:srgbClr val="222222"/>
                </a:solidFill>
              </a:defRPr>
            </a:pPr>
            <a:r>
              <a:t>      –  the set of loci among which the READS are genuinely confused (multimapping).</a:t>
            </a:r>
          </a:p>
          <a:p>
            <a:pPr>
              <a:spcAft>
                <a:spcPts val="700"/>
              </a:spcAft>
              <a:defRPr sz="1800">
                <a:solidFill>
                  <a:srgbClr val="127A6E"/>
                </a:solidFill>
              </a:defRPr>
            </a:pPr>
            <a:r>
              <a:t>•  Goal: a formal, RNA-derived definition with an honest false-positive / false-negative ledger.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D5A"/>
                </a:solidFill>
              </a:defRPr>
            </a:pPr>
            <a:r>
              <a:t>Key idea: multimapping reads are shared evidence, not noise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•  A read that maps equally well to two loci = a genuine alternative placement</a:t>
            </a:r>
          </a:p>
          <a:p>
            <a:pPr>
              <a:spcAft>
                <a:spcPts val="700"/>
              </a:spcAft>
              <a:defRPr sz="1500">
                <a:solidFill>
                  <a:srgbClr val="222222"/>
                </a:solidFill>
              </a:defRPr>
            </a:pPr>
            <a:r>
              <a:t>      –  (the multimapping conflict — Canzar's conflict graph).</a:t>
            </a:r>
          </a:p>
          <a:p>
            <a:pPr>
              <a:spcAft>
                <a:spcPts val="700"/>
              </a:spcAft>
              <a:defRPr sz="1800">
                <a:solidFill>
                  <a:srgbClr val="1F2D5A"/>
                </a:solidFill>
              </a:defRPr>
            </a:pPr>
            <a:r>
              <a:t>•  Two loci are in the same family  ⇔  reads cross-map between them at TIED divergence.</a:t>
            </a:r>
          </a:p>
          <a:p>
            <a:pPr>
              <a:spcAft>
                <a:spcPts val="700"/>
              </a:spcAft>
              <a:defRPr sz="1800">
                <a:solidFill>
                  <a:srgbClr val="1F2D5A"/>
                </a:solidFill>
              </a:defRPr>
            </a:pPr>
            <a:r>
              <a:t>•  A family = a connected component of the read-conflict graph.</a:t>
            </a:r>
          </a:p>
          <a:p>
            <a:pPr>
              <a:spcAft>
                <a:spcPts val="700"/>
              </a:spcAft>
              <a:defRPr sz="1800">
                <a:solidFill>
                  <a:srgbClr val="127A6E"/>
                </a:solidFill>
              </a:defRPr>
            </a:pPr>
            <a:r>
              <a:t>•  This is exactly the unit on which read-to-copy assignment must be solved.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D5A"/>
                </a:solidFill>
              </a:defRPr>
            </a:pPr>
            <a:r>
              <a:t>The definition (formal)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•  Vertices  V  =  de-novo EXPRESSED loci (per-transcript intervals, not annotated gene spans).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•  Placement: each alignment RECORD → its single best-overlap locus.</a:t>
            </a:r>
          </a:p>
          <a:p>
            <a:pPr>
              <a:spcAft>
                <a:spcPts val="700"/>
              </a:spcAft>
              <a:defRPr sz="1500">
                <a:solidFill>
                  <a:srgbClr val="222222"/>
                </a:solidFill>
              </a:defRPr>
            </a:pPr>
            <a:r>
              <a:t>      –  ⇒ two cross-locus placements come from distinct records = genuine multimapping, BY CONSTRUCTION</a:t>
            </a:r>
          </a:p>
          <a:p>
            <a:pPr>
              <a:spcAft>
                <a:spcPts val="700"/>
              </a:spcAft>
              <a:defRPr sz="1500">
                <a:solidFill>
                  <a:srgbClr val="222222"/>
                </a:solidFill>
              </a:defRPr>
            </a:pPr>
            <a:r>
              <a:t>      –  (a single alignment over nested genes yields one entry → no distance guard needed).</a:t>
            </a:r>
          </a:p>
          <a:p>
            <a:pPr>
              <a:spcAft>
                <a:spcPts val="700"/>
              </a:spcAft>
              <a:defRPr sz="1800">
                <a:solidFill>
                  <a:srgbClr val="1F2D5A"/>
                </a:solidFill>
              </a:defRPr>
            </a:pPr>
            <a:r>
              <a:t>•  Conflict predicate (read r on loci i,j):   |de_i − de_j| ≤ Δ   AND   max(de_i,de_j) ≤ DE_max</a:t>
            </a:r>
          </a:p>
          <a:p>
            <a:pPr>
              <a:spcAft>
                <a:spcPts val="700"/>
              </a:spcAft>
              <a:defRPr sz="1500">
                <a:solidFill>
                  <a:srgbClr val="222222"/>
                </a:solidFill>
              </a:defRPr>
            </a:pPr>
            <a:r>
              <a:t>      –  tied at the HiFi error floor: minimap2 cannot decide which copy the read came from.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•  Edge: ≥ MIN_READS = 3 conflicting reads.    Family: connected component, |C| ≥ 2.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444444"/>
                </a:solidFill>
              </a:defRPr>
            </a:pPr>
            <a:r>
              <a:t>Δ=0.005, DE_max=0.05, MIN_READS=3 — error-model-MOTIVATED operating points near a knife-edge (see later slide); not eliminated.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D5A"/>
                </a:solidFill>
              </a:defRPr>
            </a:pPr>
            <a:r>
              <a:t>Worked example — one read becomes one 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•  Take a single HiFi molecule r that minimap2 places twice:</a:t>
            </a:r>
          </a:p>
          <a:p>
            <a:pPr>
              <a:spcAft>
                <a:spcPts val="700"/>
              </a:spcAft>
              <a:defRPr sz="1500">
                <a:solidFill>
                  <a:srgbClr val="1F2D5A"/>
                </a:solidFill>
              </a:defRPr>
            </a:pPr>
            <a:r>
              <a:t>      –  primary on locus A  (de = 0.0010),   secondary on locus B  (de = 0.0035).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•  Test the conflict predicate:  |0.0010 − 0.0035| = 0.0025 ≤ Δ=0.005,  and both ≤ DE_max.</a:t>
            </a:r>
          </a:p>
          <a:p>
            <a:pPr>
              <a:spcAft>
                <a:spcPts val="700"/>
              </a:spcAft>
              <a:defRPr sz="1500">
                <a:solidFill>
                  <a:srgbClr val="127A6E"/>
                </a:solidFill>
              </a:defRPr>
            </a:pPr>
            <a:r>
              <a:t>      –  ⇒ r is TIED: the aligner cannot decide A vs B → r is a conflict read for the pair (A,B).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•  Repeat over all reads. 47 of them tie on (A,B) ≥ MIN_READS=3 → draw edge A—B.</a:t>
            </a:r>
          </a:p>
          <a:p>
            <a:pPr>
              <a:spcAft>
                <a:spcPts val="700"/>
              </a:spcAft>
              <a:defRPr sz="1800">
                <a:solidFill>
                  <a:srgbClr val="1F2D5A"/>
                </a:solidFill>
              </a:defRPr>
            </a:pPr>
            <a:r>
              <a:t>•  A and B land in one connected component ⇒ {A,B} is a family   (this IS RABL2A~RABL2B).</a:t>
            </a:r>
          </a:p>
          <a:p>
            <a:pPr>
              <a:spcAft>
                <a:spcPts val="700"/>
              </a:spcAft>
              <a:defRPr sz="1800">
                <a:solidFill>
                  <a:srgbClr val="D96B27"/>
                </a:solidFill>
              </a:defRPr>
            </a:pPr>
            <a:r>
              <a:t>•  Contrast: a read with de_A=0.001, de_B=0.018 → |diff|=0.017 &gt; Δ → decidable → NO edge</a:t>
            </a:r>
          </a:p>
          <a:p>
            <a:pPr>
              <a:spcAft>
                <a:spcPts val="700"/>
              </a:spcAft>
              <a:defRPr sz="1500">
                <a:solidFill>
                  <a:srgbClr val="D96B27"/>
                </a:solidFill>
              </a:defRPr>
            </a:pPr>
            <a:r>
              <a:t>      –  (the EEF1A1 retrocopy: distinguishable, correctly never a family).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D5A"/>
                </a:solidFill>
              </a:defRPr>
            </a:pPr>
            <a:r>
              <a:t>Why raw divergence (de), not the aligner's score (AS)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•  AS (alignment score) folds in read LENGTH →</a:t>
            </a:r>
          </a:p>
          <a:p>
            <a:pPr>
              <a:spcAft>
                <a:spcPts val="700"/>
              </a:spcAft>
              <a:defRPr sz="1500">
                <a:solidFill>
                  <a:srgbClr val="D96B27"/>
                </a:solidFill>
              </a:defRPr>
            </a:pPr>
            <a:r>
              <a:t>      –  a long retrocopy alignment scores like the real copy → AS TIES a false positive.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•  de (gap-compressed per-base divergence) sees the actual sequence gap.</a:t>
            </a:r>
          </a:p>
          <a:p>
            <a:pPr>
              <a:spcAft>
                <a:spcPts val="700"/>
              </a:spcAft>
              <a:defRPr sz="1800">
                <a:solidFill>
                  <a:srgbClr val="1F2D5A"/>
                </a:solidFill>
              </a:defRPr>
            </a:pPr>
            <a:r>
              <a:t>•  de-tie  ⊊  AS-tie   — a shipped regression invariant.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•  The principled choice removes exactly the false positives:</a:t>
            </a:r>
          </a:p>
          <a:p>
            <a:pPr>
              <a:spcAft>
                <a:spcPts val="700"/>
              </a:spcAft>
              <a:defRPr sz="1500">
                <a:solidFill>
                  <a:srgbClr val="D96B27"/>
                </a:solidFill>
              </a:defRPr>
            </a:pPr>
            <a:r>
              <a:t>      –  EEF1A1 retrocopy: AS ties 3,347 reads → de = 0 (|de diff| 0.016 &gt; Δ, decidable).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D5A"/>
                </a:solidFill>
              </a:defRPr>
            </a:pPr>
            <a:r>
              <a:t>Examples &amp; counterexamples — 17-candidate panel (TP=7, TN=10, FP=0, FN=0)</a:t>
            </a:r>
          </a:p>
        </p:txBody>
      </p:sp>
      <p:pic>
        <p:nvPicPr>
          <p:cNvPr id="3" name="Picture 2" descr="family_definition_fig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928" y="1051560"/>
            <a:ext cx="9717095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444444"/>
                </a:solidFill>
              </a:defRPr>
            </a:pPr>
            <a:r>
              <a:t>(A) green = de-tie families (components); red dashed = AS false-positive edges avoided.   (B) de fires on the 7 families; AS over-links the decoys (EEF1A1-retro: AS 3,347 vs de 0).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D5A"/>
                </a:solidFill>
              </a:defRPr>
            </a:pPr>
            <a:r>
              <a:t>Examples — the 7 families found (reads ARE confused)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•  RABL2A ~ RABL2B — recent paralog, separate chromosomes (47 de-conflict reads).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•  AK6 ~ LOC,  CCDC196 ~ LOC — high-identity cross-chromosome copies (24 each).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•  MAGEA de-novo arrays ×4 — co-located tandem copies (75–303 conflict reads).</a:t>
            </a:r>
          </a:p>
          <a:p>
            <a:pPr>
              <a:spcAft>
                <a:spcPts val="700"/>
              </a:spcAft>
              <a:defRPr sz="1800">
                <a:solidFill>
                  <a:srgbClr val="127A6E"/>
                </a:solidFill>
              </a:defRPr>
            </a:pPr>
            <a:r>
              <a:t>•  Every edge verified read-by-read from raw GGO.bam (samtools/pysam).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•  All three regimes covered: recent paralog · cross-chrom copy · co-located array.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D5A"/>
                </a:solidFill>
              </a:defRPr>
            </a:pPr>
            <a:r>
              <a:t>Counterexamples — three ways it correctly says 'NOT a family'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F2D5A"/>
                </a:solidFill>
              </a:defRPr>
            </a:pPr>
            <a:r>
              <a:t>•  THE CRUX — APOBEC3:  a CONFIRMED Ensembl-Compara recent paralog  →  STILL 0 conflict.</a:t>
            </a:r>
          </a:p>
          <a:p>
            <a:pPr>
              <a:spcAft>
                <a:spcPts val="700"/>
              </a:spcAft>
              <a:defRPr sz="1500">
                <a:solidFill>
                  <a:srgbClr val="1F2D5A"/>
                </a:solidFill>
              </a:defRPr>
            </a:pPr>
            <a:r>
              <a:t>      –  recent paralogy is NOT sufficient: APOBEC3's copies are read-resolvable, so they are excluded.</a:t>
            </a:r>
          </a:p>
          <a:p>
            <a:pPr>
              <a:spcAft>
                <a:spcPts val="700"/>
              </a:spcAft>
              <a:defRPr sz="1500">
                <a:solidFill>
                  <a:srgbClr val="127A6E"/>
                </a:solidFill>
              </a:defRPr>
            </a:pPr>
            <a:r>
              <a:t>      –  ⇒ the definition is  recent-paralogy  ∩  read-confusability  — a strict subset, not a sequence test.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•  Domain-sharers  (CREB1~METTL21A, 192 shared reads)  →  0 conflict.</a:t>
            </a:r>
          </a:p>
          <a:p>
            <a:pPr>
              <a:spcAft>
                <a:spcPts val="700"/>
              </a:spcAft>
              <a:defRPr sz="1500">
                <a:solidFill>
                  <a:srgbClr val="222222"/>
                </a:solidFill>
              </a:defRPr>
            </a:pPr>
            <a:r>
              <a:t>      –  single-valued best-overlap selects the SAME physical record for both → 0 edges (by construction).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•  Retrocopies  (EEF1A1, AS ties 3,347)  →  0 conflict.</a:t>
            </a:r>
          </a:p>
          <a:p>
            <a:pPr>
              <a:spcAft>
                <a:spcPts val="700"/>
              </a:spcAft>
              <a:defRPr sz="1500">
                <a:solidFill>
                  <a:srgbClr val="222222"/>
                </a:solidFill>
              </a:defRPr>
            </a:pPr>
            <a:r>
              <a:t>      –  reads decidable: |de diff| 0.016 &gt; Δ → no tie.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D5A"/>
                </a:solidFill>
              </a:defRPr>
            </a:pPr>
            <a:r>
              <a:t>Three structural robustnesses — strong on the tested panel (homology guard at scale)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•  Domain-sharers: single-valued best-overlap → 0 cross-locus edges (verified 0/192, 0/429 on the panel).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•  Over-split fragments: co-positioned isoforms share no conflicting read.</a:t>
            </a:r>
          </a:p>
          <a:p>
            <a:pPr>
              <a:spcAft>
                <a:spcPts val="700"/>
              </a:spcAft>
              <a:defRPr sz="1500">
                <a:solidFill>
                  <a:srgbClr val="222222"/>
                </a:solidFill>
              </a:defRPr>
            </a:pPr>
            <a:r>
              <a:t>      –  a sequence-SIMILARITY definition made 42% false families here; the conflict definition needs no SIMILARITY guard.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•  Retrocopies / decidable paralogs: decisive reads don't tie → excluded.</a:t>
            </a:r>
          </a:p>
          <a:p>
            <a:pPr>
              <a:spcAft>
                <a:spcPts val="700"/>
              </a:spcAft>
              <a:defRPr sz="1800">
                <a:solidFill>
                  <a:srgbClr val="127A6E"/>
                </a:solidFill>
              </a:defRPr>
            </a:pPr>
            <a:r>
              <a:t>•  ⚠ At GENOME scale, Alu/repeat bridges DO over-merge (e.g. OCLN/SEPTIN7) — so not 'by construction' universally;</a:t>
            </a:r>
          </a:p>
          <a:p>
            <a:pPr>
              <a:spcAft>
                <a:spcPts val="700"/>
              </a:spcAft>
              <a:defRPr sz="1500">
                <a:solidFill>
                  <a:srgbClr val="127A6E"/>
                </a:solidFill>
              </a:defRPr>
            </a:pPr>
            <a:r>
              <a:t>      –  the production catalog adds a downstream exon-sum homology refine (asm20 id≥0.80/cov≥0.50) to remove them.</a:t>
            </a:r>
          </a:p>
          <a:p>
            <a:pPr>
              <a:spcAft>
                <a:spcPts val="700"/>
              </a:spcAft>
              <a:defRPr sz="1500">
                <a:solidFill>
                  <a:srgbClr val="222222"/>
                </a:solidFill>
              </a:defRPr>
            </a:pPr>
            <a:r>
              <a:t>      –  The one precondition: vertices must be per-transcript loci (the production unit).</a:t>
            </a:r>
          </a:p>
          <a:p>
            <a:pPr>
              <a:spcAft>
                <a:spcPts val="700"/>
              </a:spcAft>
              <a:defRPr sz="1500">
                <a:solidFill>
                  <a:srgbClr val="222222"/>
                </a:solidFill>
              </a:defRPr>
            </a:pPr>
            <a:r>
              <a:t>      –  coarse gene-span vertices reintroduce over-merge — and that bridge is exactly what collapses 59→20</a:t>
            </a:r>
          </a:p>
          <a:p>
            <a:pPr>
              <a:spcAft>
                <a:spcPts val="700"/>
              </a:spcAft>
              <a:defRPr sz="1500">
                <a:solidFill>
                  <a:srgbClr val="222222"/>
                </a:solidFill>
              </a:defRPr>
            </a:pPr>
            <a:r>
              <a:t>      –  when we move to de-novo loci (next slide). So the only knob is vertex resolution, and it is pinned.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D5A"/>
                </a:solidFill>
              </a:defRPr>
            </a:pPr>
            <a:r>
              <a:t>The thresholds are error-model-MOTIVATED operating points (named, not eliminated)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F2D5A"/>
                </a:solidFill>
              </a:defRPr>
            </a:pPr>
            <a:r>
              <a:t>•  Δ = 0.005 ≈ the single-read divergence-discrimination RESOLUTION at HiFi error — a motivated scale, not arbitrary.</a:t>
            </a:r>
          </a:p>
          <a:p>
            <a:pPr>
              <a:spcAft>
                <a:spcPts val="700"/>
              </a:spcAft>
              <a:defRPr sz="1500">
                <a:solidFill>
                  <a:srgbClr val="222222"/>
                </a:solidFill>
              </a:defRPr>
            </a:pPr>
            <a:r>
              <a:t>      –  per-read de has SE √(ε/L) ≈ 0.0009; the TIE statistic |de_i − de_j| has SE √(2ε/L) ≈ 0.0013 → ~4σ ≈ 0.005.</a:t>
            </a:r>
          </a:p>
          <a:p>
            <a:pPr>
              <a:spcAft>
                <a:spcPts val="700"/>
              </a:spcAft>
              <a:defRPr sz="1500">
                <a:solidFill>
                  <a:srgbClr val="127A6E"/>
                </a:solidFill>
              </a:defRPr>
            </a:pPr>
            <a:r>
              <a:t>      –  ⚠ BUT it is a knife-edge operating point, NOT 'derived': 0.01 re-admits CNN2, 0.02 re-admits EEF1A1;</a:t>
            </a:r>
          </a:p>
          <a:p>
            <a:pPr>
              <a:spcAft>
                <a:spcPts val="700"/>
              </a:spcAft>
              <a:defRPr sz="1500">
                <a:solidFill>
                  <a:srgbClr val="127A6E"/>
                </a:solidFill>
              </a:defRPr>
            </a:pPr>
            <a:r>
              <a:t>      –  the Δ-sweep 'first error at 0.007' is consistency vs the SAME catalog (circular), not an independent confirmation.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•  DE_max = 0.05: loose copy-vs-distinct-gene ceiling.   MIN_READS = 3: minimum-evidence quorum.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•  Independent Ensembl Compara: RABL2 (Homininae), MAGEA (Catarrhini) confirmed recent paralogs;</a:t>
            </a:r>
          </a:p>
          <a:p>
            <a:pPr>
              <a:spcAft>
                <a:spcPts val="700"/>
              </a:spcAft>
              <a:defRPr sz="1500">
                <a:solidFill>
                  <a:srgbClr val="222222"/>
                </a:solidFill>
              </a:defRPr>
            </a:pPr>
            <a:r>
              <a:t>      –  APOBEC3 confirms the strict-subset (recent paralog, yet correctly excluded).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D5A"/>
                </a:solidFill>
              </a:defRPr>
            </a:pPr>
            <a:r>
              <a:t>Genome-wide — stable, sensible, NOT overfit to the panel</a:t>
            </a:r>
          </a:p>
        </p:txBody>
      </p:sp>
      <p:pic>
        <p:nvPicPr>
          <p:cNvPr id="3" name="Picture 2" descr="family_def_genomewide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" y="1051560"/>
            <a:ext cx="11247120" cy="33393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444444"/>
                </a:solidFill>
              </a:defRPr>
            </a:pPr>
            <a:r>
              <a:t>34k independent gene vertices → 416 families, 57% size-2, 86% co-located; Δ flat to ±7%; production de-novo loci collapse the coarse over-merge bridges 59→20 (worst mega-bridges vanish).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D5A"/>
                </a:solidFill>
              </a:defRPr>
            </a:pPr>
            <a:r>
              <a:t>Precision / recall vs a DNA-sequence ground truth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•  Independent DNA 'ground truth': all-vs-all cDNA homology over the SAME 34k gene vertices,</a:t>
            </a:r>
          </a:p>
          <a:p>
            <a:pPr>
              <a:spcAft>
                <a:spcPts val="700"/>
              </a:spcAft>
              <a:defRPr sz="1500">
                <a:solidFill>
                  <a:srgbClr val="222222"/>
                </a:solidFill>
              </a:defRPr>
            </a:pPr>
            <a:r>
              <a:t>      –  edge iff identity ≥ 90% AND aligned fraction ≥ 30% (the pinned paralogy bar) → 17,410 paralog edges / 1,460 families. No reads used.</a:t>
            </a:r>
          </a:p>
          <a:p>
            <a:pPr>
              <a:spcAft>
                <a:spcPts val="700"/>
              </a:spcAft>
              <a:defRPr sz="1800">
                <a:solidFill>
                  <a:srgbClr val="1F2D5A"/>
                </a:solidFill>
              </a:defRPr>
            </a:pPr>
            <a:r>
              <a:t>•  Edge-level vs the RNA de-tie graph (2,829 edges):   raw precision = 0.64,   raw recall = 0.10.</a:t>
            </a:r>
          </a:p>
          <a:p>
            <a:pPr>
              <a:spcAft>
                <a:spcPts val="700"/>
              </a:spcAft>
              <a:defRPr sz="1500">
                <a:solidFill>
                  <a:srgbClr val="222222"/>
                </a:solidFill>
              </a:defRPr>
            </a:pPr>
            <a:r>
              <a:t>      –  every number independently re-derived from the raw alignments — 0 discrepancies.</a:t>
            </a:r>
          </a:p>
          <a:p>
            <a:pPr>
              <a:spcAft>
                <a:spcPts val="700"/>
              </a:spcAft>
              <a:defRPr sz="1800">
                <a:solidFill>
                  <a:srgbClr val="127A6E"/>
                </a:solidFill>
              </a:defRPr>
            </a:pPr>
            <a:r>
              <a:t>•  But raw P/R are NOT error rates — both axes are dominated by DEFINITIONAL differences:</a:t>
            </a:r>
          </a:p>
          <a:p>
            <a:pPr>
              <a:spcAft>
                <a:spcPts val="700"/>
              </a:spcAft>
              <a:defRPr sz="1500">
                <a:solidFill>
                  <a:srgbClr val="222222"/>
                </a:solidFill>
              </a:defRPr>
            </a:pPr>
            <a:r>
              <a:t>      –  the two definitions answer different questions, and the DNA bar has its own threshold incoherence.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444444"/>
                </a:solidFill>
              </a:defRPr>
            </a:pPr>
            <a:r>
              <a:t>DNA truth = minimap2 asm20 all-vs-all of the longest cDNA per gene; same vertices as the RNA graph.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D5A"/>
                </a:solidFill>
              </a:defRPr>
            </a:pPr>
            <a:r>
              <a:t>What the raw numbers hide — the honest decomposition</a:t>
            </a:r>
          </a:p>
        </p:txBody>
      </p:sp>
      <p:pic>
        <p:nvPicPr>
          <p:cNvPr id="3" name="Picture 2" descr="family_def_dna_pr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" y="1051560"/>
            <a:ext cx="11247120" cy="42954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444444"/>
                </a:solidFill>
              </a:defRPr>
            </a:pPr>
            <a:r>
              <a:t>(A) 80% of 'missed' DNA paralog pairs are transcriptionally SILENT; of expressed co-mapping pairs the method links 0.66.   (B) no clean coverage cut separates real paralogs (RABL2) from domain-sharers (CREB1~METTL21A) — distributions overlap.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D5A"/>
                </a:solidFill>
              </a:defRPr>
            </a:pPr>
            <a:r>
              <a:t>The honest read — recall and precision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F2D5A"/>
                </a:solidFill>
              </a:defRPr>
            </a:pPr>
            <a:r>
              <a:t>•  RECALL: 80% of 'missed' DNA paralog pairs are transcriptionally SILENT (≥1 copy unexpressed → invisible to RNA).</a:t>
            </a:r>
          </a:p>
          <a:p>
            <a:pPr>
              <a:spcAft>
                <a:spcPts val="700"/>
              </a:spcAft>
              <a:defRPr sz="1500">
                <a:solidFill>
                  <a:srgbClr val="222222"/>
                </a:solidFill>
              </a:defRPr>
            </a:pPr>
            <a:r>
              <a:t>      –  of expressed, co-mapping paralog pairs the method links 0.66 (the honest single figure);</a:t>
            </a:r>
          </a:p>
          <a:p>
            <a:pPr>
              <a:spcAft>
                <a:spcPts val="700"/>
              </a:spcAft>
              <a:defRPr sz="1500">
                <a:solidFill>
                  <a:srgbClr val="222222"/>
                </a:solidFill>
              </a:defRPr>
            </a:pPr>
            <a:r>
              <a:t>      –  residual = 423 sub-quorum (1–2 tied reads) + 524 resolvable (reads place decisively).</a:t>
            </a:r>
          </a:p>
          <a:p>
            <a:pPr>
              <a:spcAft>
                <a:spcPts val="700"/>
              </a:spcAft>
              <a:defRPr sz="1800">
                <a:solidFill>
                  <a:srgbClr val="1F2D5A"/>
                </a:solidFill>
              </a:defRPr>
            </a:pPr>
            <a:r>
              <a:t>•  PRECISION: 21% of nominal 'false' edges (212) are real paralogs JUST under the arbitrary 90%/30% bar</a:t>
            </a:r>
          </a:p>
          <a:p>
            <a:pPr>
              <a:spcAft>
                <a:spcPts val="700"/>
              </a:spcAft>
              <a:defRPr sz="1500">
                <a:solidFill>
                  <a:srgbClr val="222222"/>
                </a:solidFill>
              </a:defRPr>
            </a:pPr>
            <a:r>
              <a:t>      –  (e.g. TBC1D1~LOC at id 0.8975, 293 reads) → DNA-truth under-detection; effective precision ≥ 0.72.</a:t>
            </a:r>
          </a:p>
          <a:p>
            <a:pPr>
              <a:spcAft>
                <a:spcPts val="700"/>
              </a:spcAft>
              <a:defRPr sz="1800">
                <a:solidFill>
                  <a:srgbClr val="D96B27"/>
                </a:solidFill>
              </a:defRPr>
            </a:pPr>
            <a:r>
              <a:t>•  'Family' = read-indistinguishable locus pair  ⊋  paralogy: high-evidence cross-chrom edges (OCLN~SEPTIN7, 3,369 reads)</a:t>
            </a:r>
          </a:p>
          <a:p>
            <a:pPr>
              <a:spcAft>
                <a:spcPts val="700"/>
              </a:spcAft>
              <a:defRPr sz="1500">
                <a:solidFill>
                  <a:srgbClr val="222222"/>
                </a:solidFill>
              </a:defRPr>
            </a:pPr>
            <a:r>
              <a:t>      –  are retrocopies / pseudogenes / read-through fusions — which the cDNA-vs-cDNA truth ALSO cannot represent (mutual blind spot).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D5A"/>
                </a:solidFill>
              </a:defRPr>
            </a:pPr>
            <a:r>
              <a:t>Orthogonal, not nested — and the one clean 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•  The two graphs CROSS: 830 whole-gene paralog pairs the RNA graph misses vs 1,130 RNA edges that are not whole-gene paralogs.</a:t>
            </a:r>
          </a:p>
          <a:p>
            <a:pPr>
              <a:spcAft>
                <a:spcPts val="700"/>
              </a:spcAft>
              <a:defRPr sz="1500">
                <a:solidFill>
                  <a:srgbClr val="127A6E"/>
                </a:solidFill>
              </a:defRPr>
            </a:pPr>
            <a:r>
              <a:t>      –  → the read-conflict graph is NOT a proxy for a static coverage threshold; it conditions on transcribed, co-mapping evidence.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•  No single coverage cut separates cleanly: RNA-confirmed reciprocal-cov median 0.75 vs DNA-only 0.27 (overlapping).</a:t>
            </a:r>
          </a:p>
          <a:p>
            <a:pPr>
              <a:spcAft>
                <a:spcPts val="700"/>
              </a:spcAft>
              <a:defRPr sz="1500">
                <a:solidFill>
                  <a:srgbClr val="222222"/>
                </a:solidFill>
              </a:defRPr>
            </a:pPr>
            <a:r>
              <a:t>      –  the reciprocal bar DROPS RABL2 (real, 0.34) yet KEEPS CREB1~METTL21A (domain-sharer, 0.54).</a:t>
            </a:r>
          </a:p>
          <a:p>
            <a:pPr>
              <a:spcAft>
                <a:spcPts val="700"/>
              </a:spcAft>
              <a:defRPr sz="1800">
                <a:solidFill>
                  <a:srgbClr val="1F2D5A"/>
                </a:solidFill>
              </a:defRPr>
            </a:pPr>
            <a:r>
              <a:t>•  THE CLEAN WIN — domain-sharers: 5/5 nested/adjacent genes sharing ONE domain at mapq 0,</a:t>
            </a:r>
          </a:p>
          <a:p>
            <a:pPr>
              <a:spcAft>
                <a:spcPts val="700"/>
              </a:spcAft>
              <a:defRPr sz="1500">
                <a:solidFill>
                  <a:srgbClr val="1F2D5A"/>
                </a:solidFill>
              </a:defRPr>
            </a:pPr>
            <a:r>
              <a:t>      –  over-called as families by ANY DNA homology bar, correctly excluded by read best-overlap attribution.</a:t>
            </a:r>
          </a:p>
          <a:p>
            <a:pPr>
              <a:spcAft>
                <a:spcPts val="700"/>
              </a:spcAft>
              <a:defRPr sz="1800">
                <a:solidFill>
                  <a:srgbClr val="127A6E"/>
                </a:solidFill>
              </a:defRPr>
            </a:pPr>
            <a:r>
              <a:t>•  Bottom line: a P/R number exists, but it measures definitional overlap — read-confusability is an orthogonal, expression-conditioned axis.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D5A"/>
                </a:solidFill>
              </a:defRPr>
            </a:pPr>
            <a:r>
              <a:t>Honest limits (disclosed up front)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D96B27"/>
                </a:solidFill>
              </a:defRPr>
            </a:pPr>
            <a:r>
              <a:t>•  FN=0 holds for ≤6-copy families: minimap2's default secondary cap (N=5) fragments LARGER arrays.</a:t>
            </a:r>
          </a:p>
          <a:p>
            <a:pPr>
              <a:spcAft>
                <a:spcPts val="700"/>
              </a:spcAft>
              <a:defRPr sz="1500">
                <a:solidFill>
                  <a:srgbClr val="222222"/>
                </a:solidFill>
              </a:defRPr>
            </a:pPr>
            <a:r>
              <a:t>      –  MEASURED fix: uncapped re-align (−N 50 −p 0.1) heals a ≥12-copy chr23 array (core 5→11) at 0 FP.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•  The panel Δ-plateau was empirically confirmed against 3 resolvable decoys (could be tightened genome-wide).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•  DE_max set conservatively, not swept for its own plateau.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•  Genome-wide families are dominated by uncharacterized LOC arrays (no orthology DB) → co-location is the proxy.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•  ~20 residual cross-chrom families at production resolution = genuine dispersed retrocopies (correct positives).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•  RABL2's recovery is quorum-carried (recent-paralog regime: MIN_READS, not a per-read tie).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D5A"/>
                </a:solidFill>
              </a:defRPr>
            </a:pPr>
            <a:r>
              <a:t>Summary — a relational, RNA-derived family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F2D5A"/>
                </a:solidFill>
              </a:defRPr>
            </a:pPr>
            <a:r>
              <a:t>•  Family = connected component of the read-conflict graph  =  recent-paralogy ∩ read-confusability.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•  No ABSOLUTE-similarity bar — a relational tie at the HiFi error-model resolution (with a small tuned tolerance Δ).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•  Three structural robustnesses on the panel (domain-sharer · over-split · retrocopy); homology refine guards scale.</a:t>
            </a:r>
          </a:p>
          <a:p>
            <a:pPr>
              <a:spcAft>
                <a:spcPts val="700"/>
              </a:spcAft>
              <a:defRPr sz="1800">
                <a:solidFill>
                  <a:srgbClr val="127A6E"/>
                </a:solidFill>
              </a:defRPr>
            </a:pPr>
            <a:r>
              <a:t>•  TP=7  TN=10  FP=0  FN=0  on the panel; genome-wide stable and de-novo-clean.</a:t>
            </a:r>
          </a:p>
          <a:p>
            <a:pPr>
              <a:spcAft>
                <a:spcPts val="700"/>
              </a:spcAft>
              <a:defRPr sz="1800">
                <a:solidFill>
                  <a:srgbClr val="127A6E"/>
                </a:solidFill>
              </a:defRPr>
            </a:pPr>
            <a:r>
              <a:t>•  It is the exact unit the read-to-copy assignment problem operates 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